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Storm is a project finance case study: valuing 100% of the equity in a 50MW operational windfarm from the perspective of an infrastructure investor, building the power price, debt sizing, tax and returns in one integrated model, and turning it into a bid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a distressed seller, an operating asset with no project finance on it, and a buyer who can bring the leverage the seller could not. The subsidy cliff in 2022 matters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feeds the next. The circularity between debt size, interest and tax is solved explicitly, with a live check in the model that reads nil.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shown are nominal £/MWh for the years reported in the valuation memo: 56.09 in 2013, 55.83 in 2019, 59.07 and 61.45 in the coal years, 51.92 in 2022, 50.20 in 2023 and 41.84 in 2027. The full annual series sits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tests, the lower governs. Repayments are sculpted to a constant 1.30x cover, which maximises debt for a given cover level. Working capital is excluded from sizing. Because the DSCR test, not loan-to-value, is the constraint, anything that relaxes cover requirements — such as a PPA — converts directly into purchasing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equity cheque is the present value of 2013–27 dividends at the 12% target. Add the debt the asset can carry, deduct costs, and the result is the price payable to the seller. That price is already £7.4m below the £71.9m book equity in the seller's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strand of the analysis. The swap is an amortising swap: the fixed rate is the notional-weighted average of LIBOR forwards, which sits below the simple average because the notional is largest when LIBOR is lowest. The subordinated loan is sized at 1.20x cover on five annuity payments; it is accretive because 9% sits below the 12% hurdle and the interest is tax-deductible.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of the bid to the equity hurdle: 10% gives £65.8m, 14% gives £63.4m. A PPA struck at the forward curve with a 1.15x floor supports £66.4m; each 5% of discount to the curve costs roughly £2.5m, so the break-even discount is about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and committed debt held constant, operating case shocked. At 84% gearing the lenders take the cash before the equity sees any of it, so the distribution of outcomes is wide and skewed to the downside.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debt does the work. Treat £64.5m as a walk-away price, lead the negotiation on financing terms, and only stretch beyond it if contracted revenue or lower cover requirements make the extra leverage safe. Technical diligence on the actual load factor matters most: P75 is the whole 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3233A"/>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3233A"/>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22034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CBC4"/>
                </a:solidFill>
                <a:latin typeface="Arial" pitchFamily="34" charset="0"/>
                <a:ea typeface="Arial" pitchFamily="34" charset="-122"/>
                <a:cs typeface="Arial" pitchFamily="34" charset="-120"/>
              </a:rPr>
              <a:t>PROJECT FINANCE CASE STUDY</a:t>
            </a:r>
            <a:endParaRPr lang="en-US" sz="1200" dirty="0"/>
          </a:p>
        </p:txBody>
      </p:sp>
      <p:sp>
        <p:nvSpPr>
          <p:cNvPr id="3" name="Text 1"/>
          <p:cNvSpPr/>
          <p:nvPr>
            <p:ph type="title"/>
          </p:nvPr>
        </p:nvSpPr>
        <p:spPr>
          <a:xfrm>
            <a:off x="812800" y="267081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C"/>
                </a:solidFill>
                <a:latin typeface="Georgia" pitchFamily="18" charset="0"/>
                <a:ea typeface="Georgia" pitchFamily="18" charset="-122"/>
                <a:cs typeface="Georgia" pitchFamily="18" charset="-120"/>
              </a:rPr>
              <a:t>Project Storm</a:t>
            </a:r>
            <a:endParaRPr lang="en-US" sz="6000" dirty="0"/>
          </a:p>
        </p:txBody>
      </p:sp>
      <p:sp>
        <p:nvSpPr>
          <p:cNvPr id="4" name="Text 2"/>
          <p:cNvSpPr/>
          <p:nvPr/>
        </p:nvSpPr>
        <p:spPr>
          <a:xfrm>
            <a:off x="812800" y="372491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4DE"/>
                </a:solidFill>
                <a:latin typeface="Arial" pitchFamily="34" charset="0"/>
                <a:ea typeface="Arial" pitchFamily="34" charset="-122"/>
                <a:cs typeface="Arial" pitchFamily="34" charset="-120"/>
              </a:rPr>
              <a:t>Valuing and financing the acquisition of a 50MW operational windfarm</a:t>
            </a:r>
            <a:endParaRPr lang="en-US" sz="2200" dirty="0"/>
          </a:p>
        </p:txBody>
      </p:sp>
      <p:sp>
        <p:nvSpPr>
          <p:cNvPr id="5" name="Text 3"/>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Arial" pitchFamily="34" charset="0"/>
                <a:ea typeface="Arial" pitchFamily="34" charset="-122"/>
                <a:cs typeface="Arial" pitchFamily="34" charset="-120"/>
              </a:rPr>
              <a:t>Rosemary Waweru · Acquisition valuation as at 31 December 2012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A forced seller, a merchant asset</a:t>
            </a:r>
            <a:endParaRPr lang="en-US" sz="3600" dirty="0"/>
          </a:p>
        </p:txBody>
      </p:sp>
      <p:sp>
        <p:nvSpPr>
          <p:cNvPr id="3" name="Shape 1"/>
          <p:cNvSpPr/>
          <p:nvPr/>
        </p:nvSpPr>
        <p:spPr>
          <a:xfrm>
            <a:off x="815975" y="1674495"/>
            <a:ext cx="2482850" cy="1995170"/>
          </a:xfrm>
          <a:prstGeom prst="roundRect">
            <a:avLst>
              <a:gd name="adj" fmla="val 4933"/>
            </a:avLst>
          </a:prstGeom>
          <a:solidFill>
            <a:srgbClr val="FBFAF6"/>
          </a:solidFill>
          <a:ln w="6350">
            <a:solidFill>
              <a:srgbClr val="DCD8CC"/>
            </a:solidFill>
            <a:prstDash val="solid"/>
          </a:ln>
        </p:spPr>
      </p:sp>
      <p:sp>
        <p:nvSpPr>
          <p:cNvPr id="4" name="Text 2"/>
          <p:cNvSpPr/>
          <p:nvPr/>
        </p:nvSpPr>
        <p:spPr>
          <a:xfrm>
            <a:off x="1071880" y="1930400"/>
            <a:ext cx="203017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78"/>
                </a:solidFill>
                <a:latin typeface="Georgia" pitchFamily="18" charset="0"/>
                <a:ea typeface="Georgia" pitchFamily="18" charset="-122"/>
                <a:cs typeface="Georgia" pitchFamily="18" charset="-120"/>
              </a:rPr>
              <a:t>50MW</a:t>
            </a:r>
            <a:endParaRPr lang="en-US" sz="3600" dirty="0"/>
          </a:p>
        </p:txBody>
      </p:sp>
      <p:sp>
        <p:nvSpPr>
          <p:cNvPr id="5" name="Text 3"/>
          <p:cNvSpPr/>
          <p:nvPr/>
        </p:nvSpPr>
        <p:spPr>
          <a:xfrm>
            <a:off x="1071880" y="2484120"/>
            <a:ext cx="20301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Operating since January 2008</a:t>
            </a:r>
            <a:endParaRPr lang="en-US" sz="1200" dirty="0"/>
          </a:p>
        </p:txBody>
      </p:sp>
      <p:sp>
        <p:nvSpPr>
          <p:cNvPr id="6" name="Shape 4"/>
          <p:cNvSpPr/>
          <p:nvPr/>
        </p:nvSpPr>
        <p:spPr>
          <a:xfrm>
            <a:off x="3508375" y="1674495"/>
            <a:ext cx="2482850" cy="1995170"/>
          </a:xfrm>
          <a:prstGeom prst="roundRect">
            <a:avLst>
              <a:gd name="adj" fmla="val 4933"/>
            </a:avLst>
          </a:prstGeom>
          <a:solidFill>
            <a:srgbClr val="FBFAF6"/>
          </a:solidFill>
          <a:ln w="6350">
            <a:solidFill>
              <a:srgbClr val="DCD8CC"/>
            </a:solidFill>
            <a:prstDash val="solid"/>
          </a:ln>
        </p:spPr>
      </p:sp>
      <p:sp>
        <p:nvSpPr>
          <p:cNvPr id="7" name="Text 5"/>
          <p:cNvSpPr/>
          <p:nvPr/>
        </p:nvSpPr>
        <p:spPr>
          <a:xfrm>
            <a:off x="3764280" y="1930400"/>
            <a:ext cx="2030171"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78"/>
                </a:solidFill>
                <a:latin typeface="Georgia" pitchFamily="18" charset="0"/>
                <a:ea typeface="Georgia" pitchFamily="18" charset="-122"/>
                <a:cs typeface="Georgia" pitchFamily="18" charset="-120"/>
              </a:rPr>
              <a:t>125GWh</a:t>
            </a:r>
            <a:endParaRPr lang="en-US" sz="3600" dirty="0"/>
          </a:p>
        </p:txBody>
      </p:sp>
      <p:sp>
        <p:nvSpPr>
          <p:cNvPr id="8" name="Text 6"/>
          <p:cNvSpPr/>
          <p:nvPr/>
        </p:nvSpPr>
        <p:spPr>
          <a:xfrm>
            <a:off x="3764280" y="2987040"/>
            <a:ext cx="20301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Annual output at P75 (2,500 hours)</a:t>
            </a:r>
            <a:endParaRPr lang="en-US" sz="1200" dirty="0"/>
          </a:p>
        </p:txBody>
      </p:sp>
      <p:sp>
        <p:nvSpPr>
          <p:cNvPr id="9" name="Shape 7"/>
          <p:cNvSpPr/>
          <p:nvPr/>
        </p:nvSpPr>
        <p:spPr>
          <a:xfrm>
            <a:off x="6200775" y="1674495"/>
            <a:ext cx="2482850" cy="1995170"/>
          </a:xfrm>
          <a:prstGeom prst="roundRect">
            <a:avLst>
              <a:gd name="adj" fmla="val 4933"/>
            </a:avLst>
          </a:prstGeom>
          <a:solidFill>
            <a:srgbClr val="FBFAF6"/>
          </a:solidFill>
          <a:ln w="6350">
            <a:solidFill>
              <a:srgbClr val="DCD8CC"/>
            </a:solidFill>
            <a:prstDash val="solid"/>
          </a:ln>
        </p:spPr>
      </p:sp>
      <p:sp>
        <p:nvSpPr>
          <p:cNvPr id="10" name="Text 8"/>
          <p:cNvSpPr/>
          <p:nvPr/>
        </p:nvSpPr>
        <p:spPr>
          <a:xfrm>
            <a:off x="6456680" y="1930400"/>
            <a:ext cx="203017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78"/>
                </a:solidFill>
                <a:latin typeface="Georgia" pitchFamily="18" charset="0"/>
                <a:ea typeface="Georgia" pitchFamily="18" charset="-122"/>
                <a:cs typeface="Georgia" pitchFamily="18" charset="-120"/>
              </a:rPr>
              <a:t>15 yrs</a:t>
            </a:r>
            <a:endParaRPr lang="en-US" sz="3600" dirty="0"/>
          </a:p>
        </p:txBody>
      </p:sp>
      <p:sp>
        <p:nvSpPr>
          <p:cNvPr id="11" name="Text 9"/>
          <p:cNvSpPr/>
          <p:nvPr/>
        </p:nvSpPr>
        <p:spPr>
          <a:xfrm>
            <a:off x="6456680" y="2484120"/>
            <a:ext cx="20301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Residual economic life, to 2027</a:t>
            </a:r>
            <a:endParaRPr lang="en-US" sz="1200" dirty="0"/>
          </a:p>
        </p:txBody>
      </p:sp>
      <p:sp>
        <p:nvSpPr>
          <p:cNvPr id="12" name="Shape 10"/>
          <p:cNvSpPr/>
          <p:nvPr/>
        </p:nvSpPr>
        <p:spPr>
          <a:xfrm>
            <a:off x="8893175" y="1674495"/>
            <a:ext cx="2482850" cy="1995170"/>
          </a:xfrm>
          <a:prstGeom prst="roundRect">
            <a:avLst>
              <a:gd name="adj" fmla="val 4933"/>
            </a:avLst>
          </a:prstGeom>
          <a:solidFill>
            <a:srgbClr val="FBFAF6"/>
          </a:solidFill>
          <a:ln w="6350">
            <a:solidFill>
              <a:srgbClr val="DCD8CC"/>
            </a:solidFill>
            <a:prstDash val="solid"/>
          </a:ln>
        </p:spPr>
      </p:sp>
      <p:sp>
        <p:nvSpPr>
          <p:cNvPr id="13" name="Text 11"/>
          <p:cNvSpPr/>
          <p:nvPr/>
        </p:nvSpPr>
        <p:spPr>
          <a:xfrm>
            <a:off x="9149080" y="1930400"/>
            <a:ext cx="203017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8611F"/>
                </a:solidFill>
                <a:latin typeface="Georgia" pitchFamily="18" charset="0"/>
                <a:ea typeface="Georgia" pitchFamily="18" charset="-122"/>
                <a:cs typeface="Georgia" pitchFamily="18" charset="-120"/>
              </a:rPr>
              <a:t>2022</a:t>
            </a:r>
            <a:endParaRPr lang="en-US" sz="3600" dirty="0"/>
          </a:p>
        </p:txBody>
      </p:sp>
      <p:sp>
        <p:nvSpPr>
          <p:cNvPr id="14" name="Text 12"/>
          <p:cNvSpPr/>
          <p:nvPr/>
        </p:nvSpPr>
        <p:spPr>
          <a:xfrm>
            <a:off x="9149080" y="2484120"/>
            <a:ext cx="20301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Wind subsidy ends; fully merchant after</a:t>
            </a:r>
            <a:endParaRPr lang="en-US" sz="1200" dirty="0"/>
          </a:p>
        </p:txBody>
      </p:sp>
      <p:sp>
        <p:nvSpPr>
          <p:cNvPr id="15" name="Shape 13"/>
          <p:cNvSpPr/>
          <p:nvPr/>
        </p:nvSpPr>
        <p:spPr>
          <a:xfrm>
            <a:off x="812800" y="4041140"/>
            <a:ext cx="5181600" cy="0"/>
          </a:xfrm>
          <a:prstGeom prst="line">
            <a:avLst/>
          </a:prstGeom>
          <a:noFill/>
          <a:ln w="25400">
            <a:solidFill>
              <a:srgbClr val="C8611F"/>
            </a:solidFill>
            <a:prstDash val="solid"/>
          </a:ln>
        </p:spPr>
      </p:sp>
      <p:sp>
        <p:nvSpPr>
          <p:cNvPr id="16" name="Text 14"/>
          <p:cNvSpPr/>
          <p:nvPr/>
        </p:nvSpPr>
        <p:spPr>
          <a:xfrm>
            <a:off x="812800" y="4206240"/>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The seller</a:t>
            </a:r>
            <a:endParaRPr lang="en-US" sz="1600" dirty="0"/>
          </a:p>
        </p:txBody>
      </p:sp>
      <p:sp>
        <p:nvSpPr>
          <p:cNvPr id="17" name="Text 15"/>
          <p:cNvSpPr/>
          <p:nvPr/>
        </p:nvSpPr>
        <p:spPr>
          <a:xfrm>
            <a:off x="812800" y="4551680"/>
            <a:ext cx="5337048"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Balance-sheet constrained and unable to raise project finance. Must close by year end, and keeps the economic benefit of the asset to 31 December 2012.</a:t>
            </a:r>
            <a:endParaRPr lang="en-US" sz="1200" dirty="0"/>
          </a:p>
        </p:txBody>
      </p:sp>
      <p:sp>
        <p:nvSpPr>
          <p:cNvPr id="18" name="Shape 16"/>
          <p:cNvSpPr/>
          <p:nvPr/>
        </p:nvSpPr>
        <p:spPr>
          <a:xfrm>
            <a:off x="6197600" y="4041140"/>
            <a:ext cx="5181600" cy="0"/>
          </a:xfrm>
          <a:prstGeom prst="line">
            <a:avLst/>
          </a:prstGeom>
          <a:noFill/>
          <a:ln w="25400">
            <a:solidFill>
              <a:srgbClr val="1F6F78"/>
            </a:solidFill>
            <a:prstDash val="solid"/>
          </a:ln>
        </p:spPr>
      </p:sp>
      <p:sp>
        <p:nvSpPr>
          <p:cNvPr id="19" name="Text 17"/>
          <p:cNvSpPr/>
          <p:nvPr/>
        </p:nvSpPr>
        <p:spPr>
          <a:xfrm>
            <a:off x="6197600" y="4206240"/>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The buyer</a:t>
            </a:r>
            <a:endParaRPr lang="en-US" sz="1600" dirty="0"/>
          </a:p>
        </p:txBody>
      </p:sp>
      <p:sp>
        <p:nvSpPr>
          <p:cNvPr id="20" name="Text 18"/>
          <p:cNvSpPr/>
          <p:nvPr/>
        </p:nvSpPr>
        <p:spPr>
          <a:xfrm>
            <a:off x="6197600" y="4551680"/>
            <a:ext cx="533704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An infrastructure investor targeting a 12% buy-and-hold equity IRR, with the option to sell down to a lower-return fund after a few years.</a:t>
            </a:r>
            <a:endParaRPr lang="en-US" sz="1200" dirty="0"/>
          </a:p>
        </p:txBody>
      </p:sp>
      <p:sp>
        <p:nvSpPr>
          <p:cNvPr id="21" name="Text 19"/>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One model, price to equity value</a:t>
            </a:r>
            <a:endParaRPr lang="en-US" sz="3600" dirty="0"/>
          </a:p>
        </p:txBody>
      </p:sp>
      <p:sp>
        <p:nvSpPr>
          <p:cNvPr id="3" name="Shape 1"/>
          <p:cNvSpPr/>
          <p:nvPr/>
        </p:nvSpPr>
        <p:spPr>
          <a:xfrm>
            <a:off x="812800" y="1671320"/>
            <a:ext cx="1991360" cy="2245360"/>
          </a:xfrm>
          <a:prstGeom prst="roundRect">
            <a:avLst>
              <a:gd name="adj" fmla="val 5102"/>
            </a:avLst>
          </a:prstGeom>
          <a:solidFill>
            <a:srgbClr val="F7F9F9"/>
          </a:solidFill>
          <a:ln/>
        </p:spPr>
      </p:sp>
      <p:sp>
        <p:nvSpPr>
          <p:cNvPr id="4" name="Shape 2"/>
          <p:cNvSpPr/>
          <p:nvPr/>
        </p:nvSpPr>
        <p:spPr>
          <a:xfrm>
            <a:off x="812800" y="1671320"/>
            <a:ext cx="1991360" cy="2245360"/>
          </a:xfrm>
          <a:custGeom>
            <a:avLst/>
            <a:gdLst/>
            <a:ahLst/>
            <a:cxnLst/>
            <a:rect l="l" t="t" r="r" b="b"/>
            <a:pathLst>
              <a:path w="1991360" h="2245360">
                <a:moveTo>
                  <a:pt x="0" y="101600"/>
                </a:moveTo>
                <a:lnTo>
                  <a:pt x="0" y="101600"/>
                </a:lnTo>
                <a:arcTo hR="101600" wR="101600" stAng="10800000" swAng="5400000"/>
                <a:lnTo>
                  <a:pt x="1889760" y="0"/>
                </a:lnTo>
                <a:arcTo hR="101600" wR="101600" stAng="16200000" swAng="5400000"/>
                <a:lnTo>
                  <a:pt x="1991360" y="101600"/>
                </a:lnTo>
                <a:arcTo hR="63500" wR="101600" stAng="0" swAng="-5400000"/>
                <a:lnTo>
                  <a:pt x="101600" y="38100"/>
                </a:lnTo>
                <a:arcTo hR="63500" wR="101600" stAng="16200000" swAng="-5400000"/>
                <a:close/>
              </a:path>
            </a:pathLst>
          </a:custGeom>
          <a:solidFill>
            <a:srgbClr val="1F6F78"/>
          </a:solidFill>
          <a:ln/>
        </p:spPr>
      </p:sp>
      <p:sp>
        <p:nvSpPr>
          <p:cNvPr id="5" name="Text 3"/>
          <p:cNvSpPr/>
          <p:nvPr/>
        </p:nvSpPr>
        <p:spPr>
          <a:xfrm>
            <a:off x="1016000" y="1910080"/>
            <a:ext cx="1635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1016000" y="2225041"/>
            <a:ext cx="1635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Power price</a:t>
            </a:r>
            <a:endParaRPr lang="en-US" sz="1600" dirty="0"/>
          </a:p>
        </p:txBody>
      </p:sp>
      <p:sp>
        <p:nvSpPr>
          <p:cNvPr id="7" name="Text 5"/>
          <p:cNvSpPr/>
          <p:nvPr/>
        </p:nvSpPr>
        <p:spPr>
          <a:xfrm>
            <a:off x="1016000" y="2570480"/>
            <a:ext cx="1635760"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Merit-order dispatch each year: the marginal plant sets the price. Real costs indexed to CPI.</a:t>
            </a:r>
            <a:endParaRPr lang="en-US" sz="1200" dirty="0"/>
          </a:p>
        </p:txBody>
      </p:sp>
      <p:sp>
        <p:nvSpPr>
          <p:cNvPr id="8" name="Shape 6"/>
          <p:cNvSpPr/>
          <p:nvPr/>
        </p:nvSpPr>
        <p:spPr>
          <a:xfrm>
            <a:off x="2956560" y="1671320"/>
            <a:ext cx="1991360" cy="2245360"/>
          </a:xfrm>
          <a:prstGeom prst="roundRect">
            <a:avLst>
              <a:gd name="adj" fmla="val 5102"/>
            </a:avLst>
          </a:prstGeom>
          <a:solidFill>
            <a:srgbClr val="F7F9F9"/>
          </a:solidFill>
          <a:ln/>
        </p:spPr>
      </p:sp>
      <p:sp>
        <p:nvSpPr>
          <p:cNvPr id="9" name="Shape 7"/>
          <p:cNvSpPr/>
          <p:nvPr/>
        </p:nvSpPr>
        <p:spPr>
          <a:xfrm>
            <a:off x="2956560" y="1671320"/>
            <a:ext cx="1991360" cy="2245360"/>
          </a:xfrm>
          <a:custGeom>
            <a:avLst/>
            <a:gdLst/>
            <a:ahLst/>
            <a:cxnLst/>
            <a:rect l="l" t="t" r="r" b="b"/>
            <a:pathLst>
              <a:path w="1991360" h="2245360">
                <a:moveTo>
                  <a:pt x="0" y="101600"/>
                </a:moveTo>
                <a:lnTo>
                  <a:pt x="0" y="101600"/>
                </a:lnTo>
                <a:arcTo hR="101600" wR="101600" stAng="10800000" swAng="5400000"/>
                <a:lnTo>
                  <a:pt x="1889760" y="0"/>
                </a:lnTo>
                <a:arcTo hR="101600" wR="101600" stAng="16200000" swAng="5400000"/>
                <a:lnTo>
                  <a:pt x="1991360" y="101600"/>
                </a:lnTo>
                <a:arcTo hR="63500" wR="101600" stAng="0" swAng="-5400000"/>
                <a:lnTo>
                  <a:pt x="101600" y="38100"/>
                </a:lnTo>
                <a:arcTo hR="63500" wR="101600" stAng="16200000" swAng="-5400000"/>
                <a:close/>
              </a:path>
            </a:pathLst>
          </a:custGeom>
          <a:solidFill>
            <a:srgbClr val="1F6F78"/>
          </a:solidFill>
          <a:ln/>
        </p:spPr>
      </p:sp>
      <p:sp>
        <p:nvSpPr>
          <p:cNvPr id="10" name="Text 8"/>
          <p:cNvSpPr/>
          <p:nvPr/>
        </p:nvSpPr>
        <p:spPr>
          <a:xfrm>
            <a:off x="3159760" y="1910080"/>
            <a:ext cx="1635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02</a:t>
            </a:r>
            <a:endParaRPr lang="en-US" sz="1200" dirty="0"/>
          </a:p>
        </p:txBody>
      </p:sp>
      <p:sp>
        <p:nvSpPr>
          <p:cNvPr id="11" name="Text 9"/>
          <p:cNvSpPr/>
          <p:nvPr/>
        </p:nvSpPr>
        <p:spPr>
          <a:xfrm>
            <a:off x="3159760" y="2225041"/>
            <a:ext cx="1635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Operations</a:t>
            </a:r>
            <a:endParaRPr lang="en-US" sz="1600" dirty="0"/>
          </a:p>
        </p:txBody>
      </p:sp>
      <p:sp>
        <p:nvSpPr>
          <p:cNvPr id="12" name="Text 10"/>
          <p:cNvSpPr/>
          <p:nvPr/>
        </p:nvSpPr>
        <p:spPr>
          <a:xfrm>
            <a:off x="3159760" y="2570480"/>
            <a:ext cx="1635760"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P75 output, subsidy at CPI less 1.5% to 2022, fixed and variable costs at CPI plus 0.25%.</a:t>
            </a:r>
            <a:endParaRPr lang="en-US" sz="1200" dirty="0"/>
          </a:p>
        </p:txBody>
      </p:sp>
      <p:sp>
        <p:nvSpPr>
          <p:cNvPr id="13" name="Shape 11"/>
          <p:cNvSpPr/>
          <p:nvPr/>
        </p:nvSpPr>
        <p:spPr>
          <a:xfrm>
            <a:off x="5100320" y="1671320"/>
            <a:ext cx="1991360" cy="2245360"/>
          </a:xfrm>
          <a:prstGeom prst="roundRect">
            <a:avLst>
              <a:gd name="adj" fmla="val 5102"/>
            </a:avLst>
          </a:prstGeom>
          <a:solidFill>
            <a:srgbClr val="F7F9F9"/>
          </a:solidFill>
          <a:ln/>
        </p:spPr>
      </p:sp>
      <p:sp>
        <p:nvSpPr>
          <p:cNvPr id="14" name="Shape 12"/>
          <p:cNvSpPr/>
          <p:nvPr/>
        </p:nvSpPr>
        <p:spPr>
          <a:xfrm>
            <a:off x="5100320" y="1671320"/>
            <a:ext cx="1991360" cy="2245360"/>
          </a:xfrm>
          <a:custGeom>
            <a:avLst/>
            <a:gdLst/>
            <a:ahLst/>
            <a:cxnLst/>
            <a:rect l="l" t="t" r="r" b="b"/>
            <a:pathLst>
              <a:path w="1991360" h="2245360">
                <a:moveTo>
                  <a:pt x="0" y="101600"/>
                </a:moveTo>
                <a:lnTo>
                  <a:pt x="0" y="101600"/>
                </a:lnTo>
                <a:arcTo hR="101600" wR="101600" stAng="10800000" swAng="5400000"/>
                <a:lnTo>
                  <a:pt x="1889760" y="0"/>
                </a:lnTo>
                <a:arcTo hR="101600" wR="101600" stAng="16200000" swAng="5400000"/>
                <a:lnTo>
                  <a:pt x="1991360" y="101600"/>
                </a:lnTo>
                <a:arcTo hR="63500" wR="101600" stAng="0" swAng="-5400000"/>
                <a:lnTo>
                  <a:pt x="101600" y="38100"/>
                </a:lnTo>
                <a:arcTo hR="63500" wR="101600" stAng="16200000" swAng="-5400000"/>
                <a:close/>
              </a:path>
            </a:pathLst>
          </a:custGeom>
          <a:solidFill>
            <a:srgbClr val="1F6F78"/>
          </a:solidFill>
          <a:ln/>
        </p:spPr>
      </p:sp>
      <p:sp>
        <p:nvSpPr>
          <p:cNvPr id="15" name="Text 13"/>
          <p:cNvSpPr/>
          <p:nvPr/>
        </p:nvSpPr>
        <p:spPr>
          <a:xfrm>
            <a:off x="5303520" y="1910080"/>
            <a:ext cx="1635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03</a:t>
            </a:r>
            <a:endParaRPr lang="en-US" sz="1200" dirty="0"/>
          </a:p>
        </p:txBody>
      </p:sp>
      <p:sp>
        <p:nvSpPr>
          <p:cNvPr id="16" name="Text 14"/>
          <p:cNvSpPr/>
          <p:nvPr/>
        </p:nvSpPr>
        <p:spPr>
          <a:xfrm>
            <a:off x="5303520" y="2225041"/>
            <a:ext cx="1635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Debt sizing</a:t>
            </a:r>
            <a:endParaRPr lang="en-US" sz="1600" dirty="0"/>
          </a:p>
        </p:txBody>
      </p:sp>
      <p:sp>
        <p:nvSpPr>
          <p:cNvPr id="17" name="Text 15"/>
          <p:cNvSpPr/>
          <p:nvPr/>
        </p:nvSpPr>
        <p:spPr>
          <a:xfrm>
            <a:off x="5303520" y="2570480"/>
            <a:ext cx="1635760"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12-year senior debt sculpted to 1.30x DSCR, capped at 85% of fixed assets.</a:t>
            </a:r>
            <a:endParaRPr lang="en-US" sz="1200" dirty="0"/>
          </a:p>
        </p:txBody>
      </p:sp>
      <p:sp>
        <p:nvSpPr>
          <p:cNvPr id="18" name="Shape 16"/>
          <p:cNvSpPr/>
          <p:nvPr/>
        </p:nvSpPr>
        <p:spPr>
          <a:xfrm>
            <a:off x="7244080" y="1671320"/>
            <a:ext cx="1991360" cy="2245360"/>
          </a:xfrm>
          <a:prstGeom prst="roundRect">
            <a:avLst>
              <a:gd name="adj" fmla="val 5102"/>
            </a:avLst>
          </a:prstGeom>
          <a:solidFill>
            <a:srgbClr val="F7F9F9"/>
          </a:solidFill>
          <a:ln/>
        </p:spPr>
      </p:sp>
      <p:sp>
        <p:nvSpPr>
          <p:cNvPr id="19" name="Shape 17"/>
          <p:cNvSpPr/>
          <p:nvPr/>
        </p:nvSpPr>
        <p:spPr>
          <a:xfrm>
            <a:off x="7244080" y="1671320"/>
            <a:ext cx="1991360" cy="2245360"/>
          </a:xfrm>
          <a:custGeom>
            <a:avLst/>
            <a:gdLst/>
            <a:ahLst/>
            <a:cxnLst/>
            <a:rect l="l" t="t" r="r" b="b"/>
            <a:pathLst>
              <a:path w="1991360" h="2245360">
                <a:moveTo>
                  <a:pt x="0" y="101600"/>
                </a:moveTo>
                <a:lnTo>
                  <a:pt x="0" y="101600"/>
                </a:lnTo>
                <a:arcTo hR="101600" wR="101600" stAng="10800000" swAng="5400000"/>
                <a:lnTo>
                  <a:pt x="1889760" y="0"/>
                </a:lnTo>
                <a:arcTo hR="101600" wR="101600" stAng="16200000" swAng="5400000"/>
                <a:lnTo>
                  <a:pt x="1991360" y="101600"/>
                </a:lnTo>
                <a:arcTo hR="63500" wR="101600" stAng="0" swAng="-5400000"/>
                <a:lnTo>
                  <a:pt x="101600" y="38100"/>
                </a:lnTo>
                <a:arcTo hR="63500" wR="101600" stAng="16200000" swAng="-5400000"/>
                <a:close/>
              </a:path>
            </a:pathLst>
          </a:custGeom>
          <a:solidFill>
            <a:srgbClr val="1F6F78"/>
          </a:solidFill>
          <a:ln/>
        </p:spPr>
      </p:sp>
      <p:sp>
        <p:nvSpPr>
          <p:cNvPr id="20" name="Text 18"/>
          <p:cNvSpPr/>
          <p:nvPr/>
        </p:nvSpPr>
        <p:spPr>
          <a:xfrm>
            <a:off x="7447280" y="1910080"/>
            <a:ext cx="1635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04</a:t>
            </a:r>
            <a:endParaRPr lang="en-US" sz="1200" dirty="0"/>
          </a:p>
        </p:txBody>
      </p:sp>
      <p:sp>
        <p:nvSpPr>
          <p:cNvPr id="21" name="Text 19"/>
          <p:cNvSpPr/>
          <p:nvPr/>
        </p:nvSpPr>
        <p:spPr>
          <a:xfrm>
            <a:off x="7447280" y="2225041"/>
            <a:ext cx="1635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Tax</a:t>
            </a:r>
            <a:endParaRPr lang="en-US" sz="1600" dirty="0"/>
          </a:p>
        </p:txBody>
      </p:sp>
      <p:sp>
        <p:nvSpPr>
          <p:cNvPr id="22" name="Text 20"/>
          <p:cNvSpPr/>
          <p:nvPr/>
        </p:nvSpPr>
        <p:spPr>
          <a:xfrm>
            <a:off x="7447280" y="2570480"/>
            <a:ext cx="1635760"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25% rate with a 30%-of-EBITDA interest cap. Debt, interest and tax solved together.</a:t>
            </a:r>
            <a:endParaRPr lang="en-US" sz="1200" dirty="0"/>
          </a:p>
        </p:txBody>
      </p:sp>
      <p:sp>
        <p:nvSpPr>
          <p:cNvPr id="23" name="Shape 21"/>
          <p:cNvSpPr/>
          <p:nvPr/>
        </p:nvSpPr>
        <p:spPr>
          <a:xfrm>
            <a:off x="9387840" y="1671320"/>
            <a:ext cx="1991360" cy="2245360"/>
          </a:xfrm>
          <a:prstGeom prst="roundRect">
            <a:avLst>
              <a:gd name="adj" fmla="val 5102"/>
            </a:avLst>
          </a:prstGeom>
          <a:solidFill>
            <a:srgbClr val="F7F9F9"/>
          </a:solidFill>
          <a:ln/>
        </p:spPr>
      </p:sp>
      <p:sp>
        <p:nvSpPr>
          <p:cNvPr id="24" name="Shape 22"/>
          <p:cNvSpPr/>
          <p:nvPr/>
        </p:nvSpPr>
        <p:spPr>
          <a:xfrm>
            <a:off x="9387840" y="1671320"/>
            <a:ext cx="1991360" cy="2245360"/>
          </a:xfrm>
          <a:custGeom>
            <a:avLst/>
            <a:gdLst/>
            <a:ahLst/>
            <a:cxnLst/>
            <a:rect l="l" t="t" r="r" b="b"/>
            <a:pathLst>
              <a:path w="1991360" h="2245360">
                <a:moveTo>
                  <a:pt x="0" y="101600"/>
                </a:moveTo>
                <a:lnTo>
                  <a:pt x="0" y="101600"/>
                </a:lnTo>
                <a:arcTo hR="101600" wR="101600" stAng="10800000" swAng="5400000"/>
                <a:lnTo>
                  <a:pt x="1889760" y="0"/>
                </a:lnTo>
                <a:arcTo hR="101600" wR="101600" stAng="16200000" swAng="5400000"/>
                <a:lnTo>
                  <a:pt x="1991360" y="101600"/>
                </a:lnTo>
                <a:arcTo hR="63500" wR="101600" stAng="0" swAng="-5400000"/>
                <a:lnTo>
                  <a:pt x="101600" y="38100"/>
                </a:lnTo>
                <a:arcTo hR="63500" wR="101600" stAng="16200000" swAng="-5400000"/>
                <a:close/>
              </a:path>
            </a:pathLst>
          </a:custGeom>
          <a:solidFill>
            <a:srgbClr val="C8611F"/>
          </a:solidFill>
          <a:ln/>
        </p:spPr>
      </p:sp>
      <p:sp>
        <p:nvSpPr>
          <p:cNvPr id="25" name="Text 23"/>
          <p:cNvSpPr/>
          <p:nvPr/>
        </p:nvSpPr>
        <p:spPr>
          <a:xfrm>
            <a:off x="9591040" y="1910080"/>
            <a:ext cx="1635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1A"/>
                </a:solidFill>
                <a:latin typeface="Arial" pitchFamily="34" charset="0"/>
                <a:ea typeface="Arial" pitchFamily="34" charset="-122"/>
                <a:cs typeface="Arial" pitchFamily="34" charset="-120"/>
              </a:rPr>
              <a:t>05</a:t>
            </a:r>
            <a:endParaRPr lang="en-US" sz="1200" dirty="0"/>
          </a:p>
        </p:txBody>
      </p:sp>
      <p:sp>
        <p:nvSpPr>
          <p:cNvPr id="26" name="Text 24"/>
          <p:cNvSpPr/>
          <p:nvPr/>
        </p:nvSpPr>
        <p:spPr>
          <a:xfrm>
            <a:off x="9591040" y="2225041"/>
            <a:ext cx="1635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Valuation</a:t>
            </a:r>
            <a:endParaRPr lang="en-US" sz="1600" dirty="0"/>
          </a:p>
        </p:txBody>
      </p:sp>
      <p:sp>
        <p:nvSpPr>
          <p:cNvPr id="27" name="Text 25"/>
          <p:cNvSpPr/>
          <p:nvPr/>
        </p:nvSpPr>
        <p:spPr>
          <a:xfrm>
            <a:off x="9591040" y="2570480"/>
            <a:ext cx="1635760"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Dividends discounted at the 12% target, then stress-tested across seven scenarios.</a:t>
            </a:r>
            <a:endParaRPr lang="en-US" sz="1200" dirty="0"/>
          </a:p>
        </p:txBody>
      </p:sp>
      <p:sp>
        <p:nvSpPr>
          <p:cNvPr id="28" name="Text 26"/>
          <p:cNvSpPr/>
          <p:nvPr/>
        </p:nvSpPr>
        <p:spPr>
          <a:xfrm>
            <a:off x="812800" y="4272280"/>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33A"/>
                </a:solidFill>
                <a:latin typeface="Arial" pitchFamily="34" charset="0"/>
                <a:ea typeface="Arial" pitchFamily="34" charset="-122"/>
                <a:cs typeface="Arial" pitchFamily="34" charset="-120"/>
              </a:rPr>
              <a:t>Then the structuring questions: a PPA, an interest rate hedge, a subordinated loan and a two-year exit.</a:t>
            </a:r>
            <a:endParaRPr lang="en-US" sz="1600" dirty="0"/>
          </a:p>
        </p:txBody>
      </p:sp>
      <p:sp>
        <p:nvSpPr>
          <p:cNvPr id="29" name="Text 27"/>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Power price: a moving merit order</a:t>
            </a:r>
            <a:endParaRPr lang="en-US" sz="3600" dirty="0"/>
          </a:p>
        </p:txBody>
      </p:sp>
      <p:sp>
        <p:nvSpPr>
          <p:cNvPr id="3" name="Text 1"/>
          <p:cNvSpPr/>
          <p:nvPr/>
        </p:nvSpPr>
        <p:spPr>
          <a:xfrm>
            <a:off x="812800" y="1620520"/>
            <a:ext cx="36626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A two-year coal hump</a:t>
            </a:r>
            <a:endParaRPr lang="en-US" sz="1600" dirty="0"/>
          </a:p>
        </p:txBody>
      </p:sp>
      <p:sp>
        <p:nvSpPr>
          <p:cNvPr id="4" name="Text 2"/>
          <p:cNvSpPr/>
          <p:nvPr/>
        </p:nvSpPr>
        <p:spPr>
          <a:xfrm>
            <a:off x="812800" y="1940561"/>
            <a:ext cx="36626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Coal costs escalate while CCGT costs fall. They cross in 2020, coal sets the price for two years, then retires. A static merit order misses this.</a:t>
            </a:r>
            <a:endParaRPr lang="en-US" sz="1200" dirty="0"/>
          </a:p>
        </p:txBody>
      </p:sp>
      <p:sp>
        <p:nvSpPr>
          <p:cNvPr id="5" name="Text 3"/>
          <p:cNvSpPr/>
          <p:nvPr/>
        </p:nvSpPr>
        <p:spPr>
          <a:xfrm>
            <a:off x="812800" y="2829561"/>
            <a:ext cx="36626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Arial" pitchFamily="34" charset="0"/>
                <a:ea typeface="Arial" pitchFamily="34" charset="-122"/>
                <a:cs typeface="Arial" pitchFamily="34" charset="-120"/>
              </a:rPr>
              <a:t>A subsidy cliff</a:t>
            </a:r>
            <a:endParaRPr lang="en-US" sz="1600" dirty="0"/>
          </a:p>
        </p:txBody>
      </p:sp>
      <p:sp>
        <p:nvSpPr>
          <p:cNvPr id="6" name="Text 4"/>
          <p:cNvSpPr/>
          <p:nvPr/>
        </p:nvSpPr>
        <p:spPr>
          <a:xfrm>
            <a:off x="812800" y="3149600"/>
            <a:ext cx="36626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The roughly £42/MWh subsidy ends after 2022, and EBITDA falls by about three-quarters.</a:t>
            </a:r>
            <a:endParaRPr lang="en-US" sz="1200" dirty="0"/>
          </a:p>
        </p:txBody>
      </p:sp>
      <p:pic>
        <p:nvPicPr>
          <p:cNvPr id="7" name="Image 0" descr="Line chart of nominal power price and wind subsidy in pounds per MWh for selected years 2013 to 2027. Price is about 56 in 2013, rises to 61 in 2021 when coal is marginal, then falls to 42 by 2027. Subsidy is about 40 to 43 until 2022 and zero afterwards.">    </p:cNvPr>
          <p:cNvPicPr>
            <a:picLocks noChangeAspect="1"/>
          </p:cNvPicPr>
          <p:nvPr/>
        </p:nvPicPr>
        <p:blipFill>
          <a:blip r:embed="rId1"/>
          <a:srcRect l="-20" r="-20" t="0" b="0"/>
          <a:stretch/>
        </p:blipFill>
        <p:spPr>
          <a:xfrm>
            <a:off x="4775200" y="1620520"/>
            <a:ext cx="6604000" cy="3810000"/>
          </a:xfrm>
          <a:prstGeom prst="rect">
            <a:avLst/>
          </a:prstGeom>
        </p:spPr>
      </p:pic>
      <p:sp>
        <p:nvSpPr>
          <p:cNvPr id="8" name="Text 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Debt capacity: the DSCR test binds</a:t>
            </a:r>
            <a:endParaRPr lang="en-US" sz="3600" dirty="0"/>
          </a:p>
        </p:txBody>
      </p:sp>
      <p:sp>
        <p:nvSpPr>
          <p:cNvPr id="3" name="Text 1"/>
          <p:cNvSpPr/>
          <p:nvPr/>
        </p:nvSpPr>
        <p:spPr>
          <a:xfrm>
            <a:off x="812800" y="16713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1.30x DSCR on P75 cash flow over 12 years</a:t>
            </a:r>
            <a:endParaRPr lang="en-US" sz="1200" dirty="0"/>
          </a:p>
        </p:txBody>
      </p:sp>
      <p:sp>
        <p:nvSpPr>
          <p:cNvPr id="4" name="Text 2"/>
          <p:cNvSpPr/>
          <p:nvPr/>
        </p:nvSpPr>
        <p:spPr>
          <a:xfrm>
            <a:off x="812800" y="1960882"/>
            <a:ext cx="7366000" cy="558800"/>
          </a:xfrm>
          <a:prstGeom prst="roundRect">
            <a:avLst>
              <a:gd name="adj" fmla="val 9091"/>
            </a:avLst>
          </a:prstGeom>
          <a:solidFill>
            <a:srgbClr val="1F6F78"/>
          </a:solidFill>
          <a:ln/>
        </p:spPr>
        <p:txBody>
          <a:bodyPr wrap="square" lIns="188321" tIns="0" rIns="188321" bIns="0" rtlCol="0" anchor="ctr">
            <a:normAutofit/>
          </a:bodyPr>
          <a:lstStyle/>
          <a:p>
            <a:pPr algn="l" indent="0" marL="0">
              <a:lnSpc>
                <a:spcPts val="3080"/>
              </a:lnSpc>
              <a:buNone/>
            </a:pPr>
            <a:r>
              <a:rPr lang="en-US" sz="2200" b="1" dirty="0">
                <a:solidFill>
                  <a:srgbClr val="F5F3EC"/>
                </a:solidFill>
                <a:latin typeface="Arial" pitchFamily="34" charset="0"/>
                <a:ea typeface="Arial" pitchFamily="34" charset="-122"/>
                <a:cs typeface="Arial" pitchFamily="34" charset="-120"/>
              </a:rPr>
              <a:t>£51.2m</a:t>
            </a:r>
            <a:endParaRPr lang="en-US" sz="2200" dirty="0"/>
          </a:p>
        </p:txBody>
      </p:sp>
      <p:sp>
        <p:nvSpPr>
          <p:cNvPr id="5" name="Text 3"/>
          <p:cNvSpPr/>
          <p:nvPr/>
        </p:nvSpPr>
        <p:spPr>
          <a:xfrm>
            <a:off x="8331200" y="2098039"/>
            <a:ext cx="6774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F78"/>
                </a:solidFill>
                <a:latin typeface="Arial" pitchFamily="34" charset="0"/>
                <a:ea typeface="Arial" pitchFamily="34" charset="-122"/>
                <a:cs typeface="Arial" pitchFamily="34" charset="-120"/>
              </a:rPr>
              <a:t>Binds</a:t>
            </a:r>
            <a:endParaRPr lang="en-US" sz="1600" dirty="0"/>
          </a:p>
        </p:txBody>
      </p:sp>
      <p:sp>
        <p:nvSpPr>
          <p:cNvPr id="6" name="Text 4"/>
          <p:cNvSpPr/>
          <p:nvPr/>
        </p:nvSpPr>
        <p:spPr>
          <a:xfrm>
            <a:off x="812800" y="277368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85% of fixed assets (loan-to-value)</a:t>
            </a:r>
            <a:endParaRPr lang="en-US" sz="1200" dirty="0"/>
          </a:p>
        </p:txBody>
      </p:sp>
      <p:sp>
        <p:nvSpPr>
          <p:cNvPr id="7" name="Text 5"/>
          <p:cNvSpPr/>
          <p:nvPr/>
        </p:nvSpPr>
        <p:spPr>
          <a:xfrm>
            <a:off x="812800" y="3063239"/>
            <a:ext cx="8255000" cy="558800"/>
          </a:xfrm>
          <a:prstGeom prst="roundRect">
            <a:avLst>
              <a:gd name="adj" fmla="val 9091"/>
            </a:avLst>
          </a:prstGeom>
          <a:solidFill>
            <a:srgbClr val="C9D4DE"/>
          </a:solidFill>
          <a:ln/>
        </p:spPr>
        <p:txBody>
          <a:bodyPr wrap="square" lIns="188321" tIns="0" rIns="188321" bIns="0" rtlCol="0" anchor="ctr">
            <a:normAutofit/>
          </a:bodyPr>
          <a:lstStyle/>
          <a:p>
            <a:pPr algn="l" indent="0" marL="0">
              <a:lnSpc>
                <a:spcPts val="3080"/>
              </a:lnSpc>
              <a:buNone/>
            </a:pPr>
            <a:r>
              <a:rPr lang="en-US" sz="2200" b="1" dirty="0">
                <a:solidFill>
                  <a:srgbClr val="13233A"/>
                </a:solidFill>
                <a:latin typeface="Arial" pitchFamily="34" charset="0"/>
                <a:ea typeface="Arial" pitchFamily="34" charset="-122"/>
                <a:cs typeface="Arial" pitchFamily="34" charset="-120"/>
              </a:rPr>
              <a:t>£57.4m</a:t>
            </a:r>
            <a:endParaRPr lang="en-US" sz="2200" dirty="0"/>
          </a:p>
        </p:txBody>
      </p:sp>
      <p:sp>
        <p:nvSpPr>
          <p:cNvPr id="8" name="Text 6"/>
          <p:cNvSpPr/>
          <p:nvPr/>
        </p:nvSpPr>
        <p:spPr>
          <a:xfrm>
            <a:off x="9220200" y="3200400"/>
            <a:ext cx="59626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Slack</a:t>
            </a:r>
            <a:endParaRPr lang="en-US" sz="1600" dirty="0"/>
          </a:p>
        </p:txBody>
      </p:sp>
      <p:sp>
        <p:nvSpPr>
          <p:cNvPr id="9" name="Shape 7"/>
          <p:cNvSpPr/>
          <p:nvPr/>
        </p:nvSpPr>
        <p:spPr>
          <a:xfrm>
            <a:off x="812800" y="3990339"/>
            <a:ext cx="3386614" cy="0"/>
          </a:xfrm>
          <a:prstGeom prst="line">
            <a:avLst/>
          </a:prstGeom>
          <a:noFill/>
          <a:ln w="25400">
            <a:solidFill>
              <a:srgbClr val="C8611F"/>
            </a:solidFill>
            <a:prstDash val="solid"/>
          </a:ln>
        </p:spPr>
      </p:sp>
      <p:sp>
        <p:nvSpPr>
          <p:cNvPr id="10" name="Text 8"/>
          <p:cNvSpPr/>
          <p:nvPr/>
        </p:nvSpPr>
        <p:spPr>
          <a:xfrm>
            <a:off x="812800" y="4155439"/>
            <a:ext cx="348821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9501A"/>
                </a:solidFill>
                <a:latin typeface="Georgia" pitchFamily="18" charset="0"/>
                <a:ea typeface="Georgia" pitchFamily="18" charset="-122"/>
                <a:cs typeface="Georgia" pitchFamily="18" charset="-120"/>
              </a:rPr>
              <a:t>£6.1m</a:t>
            </a:r>
            <a:endParaRPr lang="en-US" sz="2200" dirty="0"/>
          </a:p>
        </p:txBody>
      </p:sp>
      <p:sp>
        <p:nvSpPr>
          <p:cNvPr id="11" name="Text 9"/>
          <p:cNvSpPr/>
          <p:nvPr/>
        </p:nvSpPr>
        <p:spPr>
          <a:xfrm>
            <a:off x="812800" y="4597400"/>
            <a:ext cx="34882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Leverage left on the table by the cover test</a:t>
            </a:r>
            <a:endParaRPr lang="en-US" sz="1200" dirty="0"/>
          </a:p>
        </p:txBody>
      </p:sp>
      <p:sp>
        <p:nvSpPr>
          <p:cNvPr id="12" name="Shape 10"/>
          <p:cNvSpPr/>
          <p:nvPr/>
        </p:nvSpPr>
        <p:spPr>
          <a:xfrm>
            <a:off x="4402614" y="3990339"/>
            <a:ext cx="3386693" cy="0"/>
          </a:xfrm>
          <a:prstGeom prst="line">
            <a:avLst/>
          </a:prstGeom>
          <a:noFill/>
          <a:ln w="25400">
            <a:solidFill>
              <a:srgbClr val="1F6F78"/>
            </a:solidFill>
            <a:prstDash val="solid"/>
          </a:ln>
        </p:spPr>
      </p:sp>
      <p:sp>
        <p:nvSpPr>
          <p:cNvPr id="13" name="Text 11"/>
          <p:cNvSpPr/>
          <p:nvPr/>
        </p:nvSpPr>
        <p:spPr>
          <a:xfrm>
            <a:off x="4402614" y="415543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6F78"/>
                </a:solidFill>
                <a:latin typeface="Georgia" pitchFamily="18" charset="0"/>
                <a:ea typeface="Georgia" pitchFamily="18" charset="-122"/>
                <a:cs typeface="Georgia" pitchFamily="18" charset="-120"/>
              </a:rPr>
              <a:t>84%</a:t>
            </a:r>
            <a:endParaRPr lang="en-US" sz="2200" dirty="0"/>
          </a:p>
        </p:txBody>
      </p:sp>
      <p:sp>
        <p:nvSpPr>
          <p:cNvPr id="14" name="Text 12"/>
          <p:cNvSpPr/>
          <p:nvPr/>
        </p:nvSpPr>
        <p:spPr>
          <a:xfrm>
            <a:off x="4402614" y="4597400"/>
            <a:ext cx="348829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Gearing (debt to enterprise value)</a:t>
            </a:r>
            <a:endParaRPr lang="en-US" sz="1200" dirty="0"/>
          </a:p>
        </p:txBody>
      </p:sp>
      <p:sp>
        <p:nvSpPr>
          <p:cNvPr id="15" name="Shape 13"/>
          <p:cNvSpPr/>
          <p:nvPr/>
        </p:nvSpPr>
        <p:spPr>
          <a:xfrm>
            <a:off x="7992507" y="3990339"/>
            <a:ext cx="3386693" cy="0"/>
          </a:xfrm>
          <a:prstGeom prst="line">
            <a:avLst/>
          </a:prstGeom>
          <a:noFill/>
          <a:ln w="25400">
            <a:solidFill>
              <a:srgbClr val="1F6F78"/>
            </a:solidFill>
            <a:prstDash val="solid"/>
          </a:ln>
        </p:spPr>
      </p:sp>
      <p:sp>
        <p:nvSpPr>
          <p:cNvPr id="16" name="Text 14"/>
          <p:cNvSpPr/>
          <p:nvPr/>
        </p:nvSpPr>
        <p:spPr>
          <a:xfrm>
            <a:off x="7992507" y="415543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6F78"/>
                </a:solidFill>
                <a:latin typeface="Georgia" pitchFamily="18" charset="0"/>
                <a:ea typeface="Georgia" pitchFamily="18" charset="-122"/>
                <a:cs typeface="Georgia" pitchFamily="18" charset="-120"/>
              </a:rPr>
              <a:t>Circular</a:t>
            </a:r>
            <a:endParaRPr lang="en-US" sz="2200" dirty="0"/>
          </a:p>
        </p:txBody>
      </p:sp>
      <p:sp>
        <p:nvSpPr>
          <p:cNvPr id="17" name="Text 15"/>
          <p:cNvSpPr/>
          <p:nvPr/>
        </p:nvSpPr>
        <p:spPr>
          <a:xfrm>
            <a:off x="7992507" y="4597400"/>
            <a:ext cx="348829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Debt, interest and tax solved together; check reads nil</a:t>
            </a:r>
            <a:endParaRPr lang="en-US" sz="1200" dirty="0"/>
          </a:p>
        </p:txBody>
      </p:sp>
      <p:sp>
        <p:nvSpPr>
          <p:cNvPr id="18" name="Text 16"/>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Bid price: £64.5m for the equity</a:t>
            </a:r>
            <a:endParaRPr lang="en-US" sz="3600" dirty="0"/>
          </a:p>
        </p:txBody>
      </p:sp>
      <p:sp>
        <p:nvSpPr>
          <p:cNvPr id="3" name="Text 1"/>
          <p:cNvSpPr/>
          <p:nvPr/>
        </p:nvSpPr>
        <p:spPr>
          <a:xfrm>
            <a:off x="812800" y="1671321"/>
            <a:ext cx="392430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F6F78"/>
                </a:solidFill>
                <a:latin typeface="Georgia" pitchFamily="18" charset="0"/>
                <a:ea typeface="Georgia" pitchFamily="18" charset="-122"/>
                <a:cs typeface="Georgia" pitchFamily="18" charset="-120"/>
              </a:rPr>
              <a:t>£64.5m</a:t>
            </a:r>
            <a:endParaRPr lang="en-US" sz="6000" dirty="0"/>
          </a:p>
        </p:txBody>
      </p:sp>
      <p:sp>
        <p:nvSpPr>
          <p:cNvPr id="4" name="Text 2"/>
          <p:cNvSpPr/>
          <p:nvPr/>
        </p:nvSpPr>
        <p:spPr>
          <a:xfrm>
            <a:off x="812800" y="2522221"/>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Equity price at a 12.0% IRR, 1.81x multiple</a:t>
            </a:r>
            <a:endParaRPr lang="en-US" sz="1200" dirty="0"/>
          </a:p>
        </p:txBody>
      </p:sp>
      <p:sp>
        <p:nvSpPr>
          <p:cNvPr id="5" name="Shape 3"/>
          <p:cNvSpPr/>
          <p:nvPr/>
        </p:nvSpPr>
        <p:spPr>
          <a:xfrm>
            <a:off x="812800" y="2941957"/>
            <a:ext cx="3810000" cy="0"/>
          </a:xfrm>
          <a:prstGeom prst="line">
            <a:avLst/>
          </a:prstGeom>
          <a:noFill/>
          <a:ln w="6350">
            <a:solidFill>
              <a:srgbClr val="DCD8CC"/>
            </a:solidFill>
            <a:prstDash val="solid"/>
          </a:ln>
        </p:spPr>
      </p:sp>
      <p:sp>
        <p:nvSpPr>
          <p:cNvPr id="6" name="Text 4"/>
          <p:cNvSpPr/>
          <p:nvPr/>
        </p:nvSpPr>
        <p:spPr>
          <a:xfrm>
            <a:off x="812800" y="3096261"/>
            <a:ext cx="3924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33A"/>
                </a:solidFill>
                <a:latin typeface="Arial" pitchFamily="34" charset="0"/>
                <a:ea typeface="Arial" pitchFamily="34" charset="-122"/>
                <a:cs typeface="Arial" pitchFamily="34" charset="-120"/>
              </a:rPr>
              <a:t>£61.0m enterprise value</a:t>
            </a:r>
            <a:endParaRPr lang="en-US" sz="1600" dirty="0"/>
          </a:p>
        </p:txBody>
      </p:sp>
      <p:sp>
        <p:nvSpPr>
          <p:cNvPr id="7" name="Text 5"/>
          <p:cNvSpPr/>
          <p:nvPr/>
        </p:nvSpPr>
        <p:spPr>
          <a:xfrm>
            <a:off x="812800" y="3456939"/>
            <a:ext cx="39243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£1.22m per MW · 6.9x 2013 EBITDA · 5.8% unlevered project IRR</a:t>
            </a:r>
            <a:endParaRPr lang="en-US" sz="1200" dirty="0"/>
          </a:p>
        </p:txBody>
      </p:sp>
      <p:sp>
        <p:nvSpPr>
          <p:cNvPr id="8" name="Text 6"/>
          <p:cNvSpPr/>
          <p:nvPr/>
        </p:nvSpPr>
        <p:spPr>
          <a:xfrm>
            <a:off x="812800" y="4117339"/>
            <a:ext cx="39243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Dividends do not depend on the price paid, so the bid is solved directly rather than goal-sought.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140960" y="1681481"/>
          <a:ext cx="6238240" cy="3743960"/>
        </p:xfrm>
        <a:graphic>
          <a:graphicData uri="http://schemas.openxmlformats.org/drawingml/2006/table">
            <a:tbl>
              <a:tblPr/>
              <a:tblGrid>
                <a:gridCol w="3119120"/>
                <a:gridCol w="3119120"/>
              </a:tblGrid>
              <a:tr h="436880">
                <a:tc>
                  <a:txBody>
                    <a:bodyPr/>
                    <a:lstStyle/>
                    <a:p>
                      <a:pPr indent="0" marL="0">
                        <a:lnSpc>
                          <a:spcPts val="1960"/>
                        </a:lnSpc>
                        <a:buNone/>
                      </a:pPr>
                      <a:r>
                        <a:rPr lang="en-US" sz="1400" dirty="0">
                          <a:solidFill>
                            <a:srgbClr val="4A5568"/>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960"/>
                        </a:lnSpc>
                        <a:buNone/>
                      </a:pPr>
                      <a:endParaRPr lang="en-US" sz="1400" dirty="0">
                        <a:latin typeface="Arial" charset="0"/>
                        <a:ea typeface="Arial" charset="0"/>
                        <a:cs typeface="Arial" charset="0"/>
                      </a:endParaRPr>
                    </a:p>
                  </a:txBody>
                  <a:tcPr marL="0" marR="0" marT="88900" marB="8890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68580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PV of dividends at 12% (equity cheque)</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14,800</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Add: senior debt drawn</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51,242</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Less: transaction costs</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(500)</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Less: upfront debt fee (2%)</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(1,025)</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F6F78"/>
                          </a:solidFill>
                          <a:latin typeface="Arial" pitchFamily="34" charset="0"/>
                          <a:ea typeface="Arial" pitchFamily="34" charset="-122"/>
                          <a:cs typeface="Arial" pitchFamily="34" charset="-120"/>
                        </a:rPr>
                        <a:t>Equity purchase price</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F6F78"/>
                          </a:solidFill>
                          <a:latin typeface="Arial" pitchFamily="34" charset="0"/>
                          <a:ea typeface="Arial" pitchFamily="34" charset="-122"/>
                          <a:cs typeface="Arial" pitchFamily="34" charset="-120"/>
                        </a:rPr>
                        <a:t>64,518</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Less: cash acquired</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(3,500)</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Implied enterprise value</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3233A"/>
                          </a:solidFill>
                          <a:latin typeface="Arial" pitchFamily="34" charset="0"/>
                          <a:ea typeface="Arial" pitchFamily="34" charset="-122"/>
                          <a:cs typeface="Arial" pitchFamily="34" charset="-120"/>
                        </a:rPr>
                        <a:t>61,018</a:t>
                      </a:r>
                      <a:endParaRPr lang="en-US" sz="1400" dirty="0">
                        <a:latin typeface="Arial" charset="0"/>
                        <a:ea typeface="Arial" charset="0"/>
                        <a:cs typeface="Arial" charset="0"/>
                      </a:endParaRPr>
                    </a:p>
                  </a:txBody>
                  <a:tcPr marL="0" marR="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0" name="Text 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D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Key findings across the analysis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3413760"/>
        </p:xfrm>
        <a:graphic>
          <a:graphicData uri="http://schemas.openxmlformats.org/drawingml/2006/table">
            <a:tbl>
              <a:tblPr/>
              <a:tblGrid>
                <a:gridCol w="3518747"/>
                <a:gridCol w="3518747"/>
                <a:gridCol w="3518747"/>
              </a:tblGrid>
              <a:tr h="426720">
                <a:tc>
                  <a:txBody>
                    <a:bodyPr/>
                    <a:lstStyle/>
                    <a:p>
                      <a:pPr indent="0" marL="0">
                        <a:lnSpc>
                          <a:spcPts val="1680"/>
                        </a:lnSpc>
                        <a:buNone/>
                      </a:pPr>
                      <a:r>
                        <a:rPr lang="en-US" sz="1200" b="1" dirty="0">
                          <a:solidFill>
                            <a:srgbClr val="4A5568"/>
                          </a:solidFill>
                          <a:latin typeface="Arial" pitchFamily="34" charset="0"/>
                          <a:ea typeface="Arial" pitchFamily="34" charset="-122"/>
                          <a:cs typeface="Arial" pitchFamily="34" charset="-120"/>
                        </a:rPr>
                        <a:t>Analysis</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D"/>
                    </a:solidFill>
                  </a:tcPr>
                </a:tc>
                <a:tc>
                  <a:txBody>
                    <a:bodyPr/>
                    <a:lstStyle/>
                    <a:p>
                      <a:pPr indent="0" marL="0">
                        <a:lnSpc>
                          <a:spcPts val="1680"/>
                        </a:lnSpc>
                        <a:buNone/>
                      </a:pPr>
                      <a:r>
                        <a:rPr lang="en-US" sz="1200" b="1" dirty="0">
                          <a:solidFill>
                            <a:srgbClr val="4A5568"/>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101600" marR="101600" marT="101600" marB="101600" anchor="t">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D"/>
                    </a:solidFill>
                  </a:tcPr>
                </a:tc>
                <a:tc>
                  <a:txBody>
                    <a:bodyPr/>
                    <a:lstStyle/>
                    <a:p>
                      <a:pPr indent="0" marL="0">
                        <a:lnSpc>
                          <a:spcPts val="1680"/>
                        </a:lnSpc>
                        <a:buNone/>
                      </a:pPr>
                      <a:r>
                        <a:rPr lang="en-US" sz="1200" b="1" dirty="0">
                          <a:solidFill>
                            <a:srgbClr val="4A5568"/>
                          </a:solidFill>
                          <a:latin typeface="Arial" pitchFamily="34" charset="0"/>
                          <a:ea typeface="Arial" pitchFamily="34" charset="-122"/>
                          <a:cs typeface="Arial" pitchFamily="34" charset="-120"/>
                        </a:rPr>
                        <a:t>So what</a:t>
                      </a:r>
                      <a:endParaRPr lang="en-US" sz="1200" dirty="0">
                        <a:latin typeface="Arial" charset="0"/>
                        <a:ea typeface="Arial" charset="0"/>
                        <a:cs typeface="Arial" charset="0"/>
                      </a:endParaRPr>
                    </a:p>
                  </a:txBody>
                  <a:tcPr marL="101600" marR="101600" marT="101600" marB="101600" anchor="t">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D"/>
                    </a:solidFill>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Base-case bid</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£64.5m equity · 12.0% IRR</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£7.4m below the seller's book equity</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P90 output for ten years</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Equity IRR falls to 6.9%</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6% less volume removes 42% of the return</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Sale to a fund after two years</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13.2% IRR (exit priced at 11%)</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+120bps, from yield and deleveraging</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Power purchase agreement</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Break-even at ~4% discount</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Value comes via extra debt, not revenue</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LIBOR hedge, 85% amortising</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1.64% swap · 4.64% all-in</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44bps below a simple curve average</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30% interest deductibility cap</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Nil impact on price</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The DSCR test caps debt first</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r h="4267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5-year subordinated loan, 9%</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13.9% IRR (+195bps)</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Or £0.8m more on price at 12%</a:t>
                      </a:r>
                      <a:endParaRPr lang="en-US" sz="1200" dirty="0">
                        <a:latin typeface="Arial" charset="0"/>
                        <a:ea typeface="Arial" charset="0"/>
                        <a:cs typeface="Arial" charset="0"/>
                      </a:endParaRPr>
                    </a:p>
                  </a:txBody>
                  <a:tcPr marL="101600" marR="101600" marT="101600" marB="101600" anchor="t">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r>
            </a:tbl>
          </a:graphicData>
        </a:graphic>
      </p:graphicFrame>
      <p:sp>
        <p:nvSpPr>
          <p:cNvPr id="4" name="Text 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The financing drives the value</a:t>
            </a:r>
            <a:endParaRPr lang="en-US" sz="3600" dirty="0"/>
          </a:p>
        </p:txBody>
      </p:sp>
      <p:sp>
        <p:nvSpPr>
          <p:cNvPr id="3" name="Shape 1"/>
          <p:cNvSpPr/>
          <p:nvPr/>
        </p:nvSpPr>
        <p:spPr>
          <a:xfrm>
            <a:off x="815975" y="1674496"/>
            <a:ext cx="5175250" cy="2114550"/>
          </a:xfrm>
          <a:prstGeom prst="roundRect">
            <a:avLst>
              <a:gd name="adj" fmla="val 4655"/>
            </a:avLst>
          </a:prstGeom>
          <a:solidFill>
            <a:srgbClr val="FBFAF6"/>
          </a:solidFill>
          <a:ln w="6350">
            <a:solidFill>
              <a:srgbClr val="DCD8CC"/>
            </a:solidFill>
            <a:prstDash val="solid"/>
          </a:ln>
        </p:spPr>
      </p:sp>
      <p:sp>
        <p:nvSpPr>
          <p:cNvPr id="4" name="Text 2"/>
          <p:cNvSpPr/>
          <p:nvPr/>
        </p:nvSpPr>
        <p:spPr>
          <a:xfrm>
            <a:off x="1122680" y="1981200"/>
            <a:ext cx="469869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78"/>
                </a:solidFill>
                <a:latin typeface="Arial" pitchFamily="34" charset="0"/>
                <a:ea typeface="Arial" pitchFamily="34" charset="-122"/>
                <a:cs typeface="Arial" pitchFamily="34" charset="-120"/>
              </a:rPr>
              <a:t>LOWER THE DSCR FLOOR</a:t>
            </a:r>
            <a:endParaRPr lang="en-US" sz="1200" dirty="0"/>
          </a:p>
        </p:txBody>
      </p:sp>
      <p:sp>
        <p:nvSpPr>
          <p:cNvPr id="5" name="Text 3"/>
          <p:cNvSpPr/>
          <p:nvPr/>
        </p:nvSpPr>
        <p:spPr>
          <a:xfrm>
            <a:off x="1122680" y="2296161"/>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F6F78"/>
                </a:solidFill>
                <a:latin typeface="Georgia" pitchFamily="18" charset="0"/>
                <a:ea typeface="Georgia" pitchFamily="18" charset="-122"/>
                <a:cs typeface="Georgia" pitchFamily="18" charset="-120"/>
              </a:rPr>
              <a:t>£1.9m</a:t>
            </a:r>
            <a:endParaRPr lang="en-US" sz="6000" dirty="0"/>
          </a:p>
        </p:txBody>
      </p:sp>
      <p:sp>
        <p:nvSpPr>
          <p:cNvPr id="6" name="Text 4"/>
          <p:cNvSpPr/>
          <p:nvPr/>
        </p:nvSpPr>
        <p:spPr>
          <a:xfrm>
            <a:off x="1122680" y="3197861"/>
            <a:ext cx="469869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33A"/>
                </a:solidFill>
                <a:latin typeface="Arial" pitchFamily="34" charset="0"/>
                <a:ea typeface="Arial" pitchFamily="34" charset="-122"/>
                <a:cs typeface="Arial" pitchFamily="34" charset="-120"/>
              </a:rPr>
              <a:t>of price from moving cover from 1.30x to 1.15x</a:t>
            </a:r>
            <a:endParaRPr lang="en-US" sz="1600" dirty="0"/>
          </a:p>
        </p:txBody>
      </p:sp>
      <p:sp>
        <p:nvSpPr>
          <p:cNvPr id="7" name="Shape 5"/>
          <p:cNvSpPr/>
          <p:nvPr/>
        </p:nvSpPr>
        <p:spPr>
          <a:xfrm>
            <a:off x="6200775" y="1674496"/>
            <a:ext cx="5175250" cy="2114550"/>
          </a:xfrm>
          <a:prstGeom prst="roundRect">
            <a:avLst>
              <a:gd name="adj" fmla="val 4655"/>
            </a:avLst>
          </a:prstGeom>
          <a:solidFill>
            <a:srgbClr val="FBFAF6"/>
          </a:solidFill>
          <a:ln w="6350">
            <a:solidFill>
              <a:srgbClr val="DCD8CC"/>
            </a:solidFill>
            <a:prstDash val="solid"/>
          </a:ln>
        </p:spPr>
      </p:sp>
      <p:sp>
        <p:nvSpPr>
          <p:cNvPr id="8" name="Text 6"/>
          <p:cNvSpPr/>
          <p:nvPr/>
        </p:nvSpPr>
        <p:spPr>
          <a:xfrm>
            <a:off x="6507480" y="1981200"/>
            <a:ext cx="469869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Arial" pitchFamily="34" charset="0"/>
                <a:ea typeface="Arial" pitchFamily="34" charset="-122"/>
                <a:cs typeface="Arial" pitchFamily="34" charset="-120"/>
              </a:rPr>
              <a:t>MOVE THE HURDLE RATE</a:t>
            </a:r>
            <a:endParaRPr lang="en-US" sz="1200" dirty="0"/>
          </a:p>
        </p:txBody>
      </p:sp>
      <p:sp>
        <p:nvSpPr>
          <p:cNvPr id="9" name="Text 7"/>
          <p:cNvSpPr/>
          <p:nvPr/>
        </p:nvSpPr>
        <p:spPr>
          <a:xfrm>
            <a:off x="6507480" y="2296161"/>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4A5568"/>
                </a:solidFill>
                <a:latin typeface="Georgia" pitchFamily="18" charset="0"/>
                <a:ea typeface="Georgia" pitchFamily="18" charset="-122"/>
                <a:cs typeface="Georgia" pitchFamily="18" charset="-120"/>
              </a:rPr>
              <a:t>£2.3m</a:t>
            </a:r>
            <a:endParaRPr lang="en-US" sz="6000" dirty="0"/>
          </a:p>
        </p:txBody>
      </p:sp>
      <p:sp>
        <p:nvSpPr>
          <p:cNvPr id="10" name="Text 8"/>
          <p:cNvSpPr/>
          <p:nvPr/>
        </p:nvSpPr>
        <p:spPr>
          <a:xfrm>
            <a:off x="6507480" y="3197861"/>
            <a:ext cx="469869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33A"/>
                </a:solidFill>
                <a:latin typeface="Arial" pitchFamily="34" charset="0"/>
                <a:ea typeface="Arial" pitchFamily="34" charset="-122"/>
                <a:cs typeface="Arial" pitchFamily="34" charset="-120"/>
              </a:rPr>
              <a:t>of price across a 400bps range, 10% to 14%</a:t>
            </a:r>
            <a:endParaRPr lang="en-US" sz="1600" dirty="0"/>
          </a:p>
        </p:txBody>
      </p:sp>
      <p:sp>
        <p:nvSpPr>
          <p:cNvPr id="11" name="Text 9"/>
          <p:cNvSpPr/>
          <p:nvPr/>
        </p:nvSpPr>
        <p:spPr>
          <a:xfrm>
            <a:off x="812800" y="4147821"/>
            <a:ext cx="981075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3233A"/>
                </a:solidFill>
                <a:latin typeface="Arial" pitchFamily="34" charset="0"/>
                <a:ea typeface="Arial" pitchFamily="34" charset="-122"/>
                <a:cs typeface="Arial" pitchFamily="34" charset="-120"/>
              </a:rPr>
              <a:t>A 0.15x change in lender cover is worth almost as much as 400bps of required return. That is why a PPA, which lets lenders size at 1.15–1.20x, is the most important lever on price.</a:t>
            </a:r>
            <a:endParaRPr lang="en-US" sz="16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3233A"/>
                </a:solidFill>
                <a:latin typeface="Georgia" pitchFamily="18" charset="0"/>
                <a:ea typeface="Georgia" pitchFamily="18" charset="-122"/>
                <a:cs typeface="Georgia" pitchFamily="18" charset="-120"/>
              </a:rPr>
              <a:t>Downside risk is asymmetric</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3210560"/>
        </p:xfrm>
        <a:graphic>
          <a:graphicData uri="http://schemas.openxmlformats.org/drawingml/2006/table">
            <a:tbl>
              <a:tblPr/>
              <a:tblGrid>
                <a:gridCol w="2639060"/>
                <a:gridCol w="2639060"/>
                <a:gridCol w="2639060"/>
                <a:gridCol w="2639060"/>
              </a:tblGrid>
              <a:tr h="401320">
                <a:tc>
                  <a:txBody>
                    <a:bodyPr/>
                    <a:lstStyle/>
                    <a:p>
                      <a:pPr indent="0" marL="0">
                        <a:lnSpc>
                          <a:spcPts val="1680"/>
                        </a:lnSpc>
                        <a:buNone/>
                      </a:pPr>
                      <a:r>
                        <a:rPr lang="en-US" sz="1200" b="1" dirty="0">
                          <a:solidFill>
                            <a:srgbClr val="4A5568"/>
                          </a:solidFill>
                          <a:latin typeface="Arial" pitchFamily="34" charset="0"/>
                          <a:ea typeface="Arial" pitchFamily="34" charset="-122"/>
                          <a:cs typeface="Arial" pitchFamily="34" charset="-120"/>
                        </a:rPr>
                        <a:t>Scenario, at a £64.5m price</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680"/>
                        </a:lnSpc>
                        <a:buNone/>
                      </a:pPr>
                      <a:r>
                        <a:rPr lang="en-US" sz="1200" b="1" dirty="0">
                          <a:solidFill>
                            <a:srgbClr val="4A5568"/>
                          </a:solidFill>
                          <a:latin typeface="Arial" pitchFamily="34" charset="0"/>
                          <a:ea typeface="Arial" pitchFamily="34" charset="-122"/>
                          <a:cs typeface="Arial" pitchFamily="34" charset="-120"/>
                        </a:rPr>
                        <a:t>Equity IRR</a:t>
                      </a:r>
                      <a:endParaRPr lang="en-US" sz="1200" dirty="0">
                        <a:latin typeface="Arial" charset="0"/>
                        <a:ea typeface="Arial" charset="0"/>
                        <a:cs typeface="Arial" charset="0"/>
                      </a:endParaRPr>
                    </a:p>
                  </a:txBody>
                  <a:tcPr marL="101600" marR="101600" marT="88900" marB="8890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680"/>
                        </a:lnSpc>
                        <a:buNone/>
                      </a:pPr>
                      <a:r>
                        <a:rPr lang="en-US" sz="1200" b="1" dirty="0">
                          <a:solidFill>
                            <a:srgbClr val="4A5568"/>
                          </a:solidFill>
                          <a:latin typeface="Arial" pitchFamily="34" charset="0"/>
                          <a:ea typeface="Arial" pitchFamily="34" charset="-122"/>
                          <a:cs typeface="Arial" pitchFamily="34" charset="-120"/>
                        </a:rPr>
                        <a:t>Min DSCR</a:t>
                      </a:r>
                      <a:endParaRPr lang="en-US" sz="1200" dirty="0">
                        <a:latin typeface="Arial" charset="0"/>
                        <a:ea typeface="Arial" charset="0"/>
                        <a:cs typeface="Arial" charset="0"/>
                      </a:endParaRPr>
                    </a:p>
                  </a:txBody>
                  <a:tcPr marL="101600" marR="101600" marT="88900" marB="8890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4A5568"/>
                          </a:solidFill>
                          <a:latin typeface="Arial" pitchFamily="34" charset="0"/>
                          <a:ea typeface="Arial" pitchFamily="34" charset="-122"/>
                          <a:cs typeface="Arial" pitchFamily="34" charset="-120"/>
                        </a:rPr>
                        <a:t>Outcome</a:t>
                      </a:r>
                      <a:endParaRPr lang="en-US" sz="1200" dirty="0">
                        <a:latin typeface="Arial" charset="0"/>
                        <a:ea typeface="Arial" charset="0"/>
                        <a:cs typeface="Arial" charset="0"/>
                      </a:endParaRPr>
                    </a:p>
                  </a:txBody>
                  <a:tcPr marL="101600" marR="101600" marT="88900" marB="8890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Base case (P75)</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1.30x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F6F78"/>
                          </a:solidFill>
                          <a:latin typeface="Arial" pitchFamily="34" charset="0"/>
                          <a:ea typeface="Arial" pitchFamily="34" charset="-122"/>
                          <a:cs typeface="Arial" pitchFamily="34" charset="-120"/>
                        </a:rPr>
                        <a:t>On plan</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P90 for ten years, then P75</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6.9%</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1.21x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Arial" pitchFamily="34" charset="0"/>
                          <a:ea typeface="Arial" pitchFamily="34" charset="-122"/>
                          <a:cs typeface="Arial" pitchFamily="34" charset="-120"/>
                        </a:rPr>
                        <a:t>Lock-up risk</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Operating costs +10%</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8.3%</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1.02x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Covenant breach</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Power price −5%</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8.7%</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1.10x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Covenant breach</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P90 every year</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1.09x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Covenant breach</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Power price −10%</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0.89x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Payment default</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1320">
                <a:tc>
                  <a:txBody>
                    <a:bodyPr/>
                    <a:lstStyle/>
                    <a:p>
                      <a:pPr indent="0" marL="0">
                        <a:lnSpc>
                          <a:spcPts val="1680"/>
                        </a:lnSpc>
                        <a:buNone/>
                      </a:pPr>
                      <a:r>
                        <a:rPr lang="en-US" sz="1200" dirty="0">
                          <a:solidFill>
                            <a:srgbClr val="13233A"/>
                          </a:solidFill>
                          <a:latin typeface="Arial" pitchFamily="34" charset="0"/>
                          <a:ea typeface="Arial" pitchFamily="34" charset="-122"/>
                          <a:cs typeface="Arial" pitchFamily="34" charset="-120"/>
                        </a:rPr>
                        <a:t>Power price −10% and P90</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13233A"/>
                          </a:solidFill>
                          <a:latin typeface="Arial" pitchFamily="34" charset="0"/>
                          <a:ea typeface="Arial" pitchFamily="34" charset="-122"/>
                          <a:cs typeface="Arial" pitchFamily="34" charset="-120"/>
                        </a:rPr>
                        <a:t>0.70x</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A9501A"/>
                          </a:solidFill>
                          <a:latin typeface="Arial" pitchFamily="34" charset="0"/>
                          <a:ea typeface="Arial" pitchFamily="34" charset="-122"/>
                          <a:cs typeface="Arial" pitchFamily="34" charset="-120"/>
                        </a:rPr>
                        <a:t>Equity written off</a:t>
                      </a:r>
                      <a:endParaRPr lang="en-US" sz="1200" dirty="0">
                        <a:latin typeface="Arial" charset="0"/>
                        <a:ea typeface="Arial" charset="0"/>
                        <a:cs typeface="Arial" charset="0"/>
                      </a:endParaRPr>
                    </a:p>
                  </a:txBody>
                  <a:tcPr marL="101600" marR="101600" marT="88900" marB="889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4" name="Text 1"/>
          <p:cNvSpPr/>
          <p:nvPr/>
        </p:nvSpPr>
        <p:spPr>
          <a:xfrm>
            <a:off x="812800" y="51460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33A"/>
                </a:solidFill>
                <a:latin typeface="Arial" pitchFamily="34" charset="0"/>
                <a:ea typeface="Arial" pitchFamily="34" charset="-122"/>
                <a:cs typeface="Arial" pitchFamily="34" charset="-120"/>
              </a:rPr>
              <a:t>A 10% price rise gives 17.7%. A 10% fall is a default, not just a lower return.</a:t>
            </a:r>
            <a:endParaRPr lang="en-US" sz="1600" dirty="0"/>
          </a:p>
        </p:txBody>
      </p:sp>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Project Storm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3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Georgia" pitchFamily="18" charset="0"/>
                <a:ea typeface="Georgia" pitchFamily="18" charset="-122"/>
                <a:cs typeface="Georgia" pitchFamily="18" charset="-120"/>
              </a:rPr>
              <a:t>Recommendation</a:t>
            </a:r>
            <a:endParaRPr lang="en-US" sz="3600" dirty="0"/>
          </a:p>
        </p:txBody>
      </p:sp>
      <p:sp>
        <p:nvSpPr>
          <p:cNvPr id="3" name="Shape 1"/>
          <p:cNvSpPr/>
          <p:nvPr/>
        </p:nvSpPr>
        <p:spPr>
          <a:xfrm>
            <a:off x="812800" y="1690371"/>
            <a:ext cx="3386614" cy="0"/>
          </a:xfrm>
          <a:prstGeom prst="line">
            <a:avLst/>
          </a:prstGeom>
          <a:noFill/>
          <a:ln w="38100">
            <a:solidFill>
              <a:srgbClr val="8FCBC4"/>
            </a:solidFill>
            <a:prstDash val="solid"/>
          </a:ln>
        </p:spPr>
      </p:sp>
      <p:sp>
        <p:nvSpPr>
          <p:cNvPr id="4" name="Text 2"/>
          <p:cNvSpPr/>
          <p:nvPr/>
        </p:nvSpPr>
        <p:spPr>
          <a:xfrm>
            <a:off x="812800" y="1910079"/>
            <a:ext cx="348821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CBC4"/>
                </a:solidFill>
                <a:latin typeface="Georgia" pitchFamily="18" charset="0"/>
                <a:ea typeface="Georgia" pitchFamily="18" charset="-122"/>
                <a:cs typeface="Georgia" pitchFamily="18" charset="-120"/>
              </a:rPr>
              <a:t>01</a:t>
            </a:r>
            <a:endParaRPr lang="en-US" sz="2200" dirty="0"/>
          </a:p>
        </p:txBody>
      </p:sp>
      <p:sp>
        <p:nvSpPr>
          <p:cNvPr id="5" name="Text 3"/>
          <p:cNvSpPr/>
          <p:nvPr/>
        </p:nvSpPr>
        <p:spPr>
          <a:xfrm>
            <a:off x="812800" y="2428242"/>
            <a:ext cx="3488212"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5F3EC"/>
                </a:solidFill>
                <a:latin typeface="Arial" pitchFamily="34" charset="0"/>
                <a:ea typeface="Arial" pitchFamily="34" charset="-122"/>
                <a:cs typeface="Arial" pitchFamily="34" charset="-120"/>
              </a:rPr>
              <a:t>Bid £64.5m as a ceiling; open nearer £60m</a:t>
            </a:r>
            <a:endParaRPr lang="en-US" sz="1600" dirty="0"/>
          </a:p>
        </p:txBody>
      </p:sp>
      <p:sp>
        <p:nvSpPr>
          <p:cNvPr id="6" name="Text 4"/>
          <p:cNvSpPr/>
          <p:nvPr/>
        </p:nvSpPr>
        <p:spPr>
          <a:xfrm>
            <a:off x="812800" y="3083564"/>
            <a:ext cx="348821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4DE"/>
                </a:solidFill>
                <a:latin typeface="Arial" pitchFamily="34" charset="0"/>
                <a:ea typeface="Arial" pitchFamily="34" charset="-122"/>
                <a:cs typeface="Arial" pitchFamily="34" charset="-120"/>
              </a:rPr>
              <a:t>The seller cannot raise finance and must close by year end. The price is already £7.4m below their book equity.</a:t>
            </a:r>
            <a:endParaRPr lang="en-US" sz="1200" dirty="0"/>
          </a:p>
        </p:txBody>
      </p:sp>
      <p:sp>
        <p:nvSpPr>
          <p:cNvPr id="7" name="Shape 5"/>
          <p:cNvSpPr/>
          <p:nvPr/>
        </p:nvSpPr>
        <p:spPr>
          <a:xfrm>
            <a:off x="4402614" y="1690371"/>
            <a:ext cx="3386693" cy="0"/>
          </a:xfrm>
          <a:prstGeom prst="line">
            <a:avLst/>
          </a:prstGeom>
          <a:noFill/>
          <a:ln w="38100">
            <a:solidFill>
              <a:srgbClr val="8FCBC4"/>
            </a:solidFill>
            <a:prstDash val="solid"/>
          </a:ln>
        </p:spPr>
      </p:sp>
      <p:sp>
        <p:nvSpPr>
          <p:cNvPr id="8" name="Text 6"/>
          <p:cNvSpPr/>
          <p:nvPr/>
        </p:nvSpPr>
        <p:spPr>
          <a:xfrm>
            <a:off x="4402614" y="191007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CBC4"/>
                </a:solidFill>
                <a:latin typeface="Georgia" pitchFamily="18" charset="0"/>
                <a:ea typeface="Georgia" pitchFamily="18" charset="-122"/>
                <a:cs typeface="Georgia" pitchFamily="18" charset="-120"/>
              </a:rPr>
              <a:t>02</a:t>
            </a:r>
            <a:endParaRPr lang="en-US" sz="2200" dirty="0"/>
          </a:p>
        </p:txBody>
      </p:sp>
      <p:sp>
        <p:nvSpPr>
          <p:cNvPr id="9" name="Text 7"/>
          <p:cNvSpPr/>
          <p:nvPr/>
        </p:nvSpPr>
        <p:spPr>
          <a:xfrm>
            <a:off x="4402614" y="2428242"/>
            <a:ext cx="3488294"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5F3EC"/>
                </a:solidFill>
                <a:latin typeface="Arial" pitchFamily="34" charset="0"/>
                <a:ea typeface="Arial" pitchFamily="34" charset="-122"/>
                <a:cs typeface="Arial" pitchFamily="34" charset="-120"/>
              </a:rPr>
              <a:t>Settle the financing before the price</a:t>
            </a:r>
            <a:endParaRPr lang="en-US" sz="1600" dirty="0"/>
          </a:p>
        </p:txBody>
      </p:sp>
      <p:sp>
        <p:nvSpPr>
          <p:cNvPr id="10" name="Text 8"/>
          <p:cNvSpPr/>
          <p:nvPr/>
        </p:nvSpPr>
        <p:spPr>
          <a:xfrm>
            <a:off x="4402614" y="3083564"/>
            <a:ext cx="348829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4DE"/>
                </a:solidFill>
                <a:latin typeface="Arial" pitchFamily="34" charset="0"/>
                <a:ea typeface="Arial" pitchFamily="34" charset="-122"/>
                <a:cs typeface="Arial" pitchFamily="34" charset="-120"/>
              </a:rPr>
              <a:t>The DSCR test, not loan-to-value, caps the debt. Negotiate cover levels and a 1.15x lock-up before price.</a:t>
            </a:r>
            <a:endParaRPr lang="en-US" sz="1200" dirty="0"/>
          </a:p>
        </p:txBody>
      </p:sp>
      <p:sp>
        <p:nvSpPr>
          <p:cNvPr id="11" name="Shape 9"/>
          <p:cNvSpPr/>
          <p:nvPr/>
        </p:nvSpPr>
        <p:spPr>
          <a:xfrm>
            <a:off x="7992507" y="1690371"/>
            <a:ext cx="3386693" cy="0"/>
          </a:xfrm>
          <a:prstGeom prst="line">
            <a:avLst/>
          </a:prstGeom>
          <a:noFill/>
          <a:ln w="38100">
            <a:solidFill>
              <a:srgbClr val="E7A15A"/>
            </a:solidFill>
            <a:prstDash val="solid"/>
          </a:ln>
        </p:spPr>
      </p:sp>
      <p:sp>
        <p:nvSpPr>
          <p:cNvPr id="12" name="Text 10"/>
          <p:cNvSpPr/>
          <p:nvPr/>
        </p:nvSpPr>
        <p:spPr>
          <a:xfrm>
            <a:off x="7992507" y="191007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7A15A"/>
                </a:solidFill>
                <a:latin typeface="Georgia" pitchFamily="18" charset="0"/>
                <a:ea typeface="Georgia" pitchFamily="18" charset="-122"/>
                <a:cs typeface="Georgia" pitchFamily="18" charset="-120"/>
              </a:rPr>
              <a:t>03</a:t>
            </a:r>
            <a:endParaRPr lang="en-US" sz="2200" dirty="0"/>
          </a:p>
        </p:txBody>
      </p:sp>
      <p:sp>
        <p:nvSpPr>
          <p:cNvPr id="13" name="Text 11"/>
          <p:cNvSpPr/>
          <p:nvPr/>
        </p:nvSpPr>
        <p:spPr>
          <a:xfrm>
            <a:off x="7992507" y="2428242"/>
            <a:ext cx="3488294"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5F3EC"/>
                </a:solidFill>
                <a:latin typeface="Arial" pitchFamily="34" charset="0"/>
                <a:ea typeface="Arial" pitchFamily="34" charset="-122"/>
                <a:cs typeface="Arial" pitchFamily="34" charset="-120"/>
              </a:rPr>
              <a:t>Go higher only with a PPA or lower cover</a:t>
            </a:r>
            <a:endParaRPr lang="en-US" sz="1600" dirty="0"/>
          </a:p>
        </p:txBody>
      </p:sp>
      <p:sp>
        <p:nvSpPr>
          <p:cNvPr id="14" name="Text 12"/>
          <p:cNvSpPr/>
          <p:nvPr/>
        </p:nvSpPr>
        <p:spPr>
          <a:xfrm>
            <a:off x="7992507" y="3083564"/>
            <a:ext cx="348829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4DE"/>
                </a:solidFill>
                <a:latin typeface="Arial" pitchFamily="34" charset="0"/>
                <a:ea typeface="Arial" pitchFamily="34" charset="-122"/>
                <a:cs typeface="Arial" pitchFamily="34" charset="-120"/>
              </a:rPr>
              <a:t>At 84% gearing the equity is thin. Without contracted revenue, more price means more default risk.</a:t>
            </a:r>
            <a:endParaRPr lang="en-US" sz="1200" dirty="0"/>
          </a:p>
        </p:txBody>
      </p:sp>
      <p:sp>
        <p:nvSpPr>
          <p:cNvPr id="15" name="Shape 13"/>
          <p:cNvSpPr/>
          <p:nvPr/>
        </p:nvSpPr>
        <p:spPr>
          <a:xfrm>
            <a:off x="812800" y="4124964"/>
            <a:ext cx="10566400" cy="1153160"/>
          </a:xfrm>
          <a:prstGeom prst="roundRect">
            <a:avLst>
              <a:gd name="adj" fmla="val 8811"/>
            </a:avLst>
          </a:prstGeom>
          <a:solidFill>
            <a:srgbClr val="1C3150"/>
          </a:solidFill>
          <a:ln/>
        </p:spPr>
      </p:sp>
      <p:sp>
        <p:nvSpPr>
          <p:cNvPr id="16" name="Text 14"/>
          <p:cNvSpPr/>
          <p:nvPr/>
        </p:nvSpPr>
        <p:spPr>
          <a:xfrm>
            <a:off x="1066800" y="4328164"/>
            <a:ext cx="1036015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7A15A"/>
                </a:solidFill>
                <a:latin typeface="Arial" pitchFamily="34" charset="0"/>
                <a:ea typeface="Arial" pitchFamily="34" charset="-122"/>
                <a:cs typeface="Arial" pitchFamily="34" charset="-120"/>
              </a:rPr>
              <a:t>BEFORE BIDDING</a:t>
            </a:r>
            <a:endParaRPr lang="en-US" sz="1200" dirty="0"/>
          </a:p>
        </p:txBody>
      </p:sp>
      <p:sp>
        <p:nvSpPr>
          <p:cNvPr id="17" name="Text 15"/>
          <p:cNvSpPr/>
          <p:nvPr/>
        </p:nvSpPr>
        <p:spPr>
          <a:xfrm>
            <a:off x="1066800" y="4617721"/>
            <a:ext cx="1036015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3E8EE"/>
                </a:solidFill>
                <a:latin typeface="Arial" pitchFamily="34" charset="0"/>
                <a:ea typeface="Arial" pitchFamily="34" charset="-122"/>
                <a:cs typeface="Arial" pitchFamily="34" charset="-120"/>
              </a:rPr>
              <a:t>Actual load factor against P75 since 2008 · decommissioning liability (~£0.5m PV) · subsidy grandfathering to 2022 · share versus asset purchase and capital allowances</a:t>
            </a:r>
            <a:endParaRPr lang="en-US" sz="1200" dirty="0"/>
          </a:p>
        </p:txBody>
      </p:sp>
      <p:sp>
        <p:nvSpPr>
          <p:cNvPr id="18" name="Text 1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Arial" pitchFamily="34" charset="0"/>
                <a:ea typeface="Arial" pitchFamily="34" charset="-122"/>
                <a:cs typeface="Arial" pitchFamily="34" charset="-120"/>
              </a:rPr>
              <a:t>Project Storm · 10</a:t>
            </a:r>
            <a:endParaRPr lang="en-US" sz="1200" dirty="0"/>
          </a:p>
        </p:txBody>
      </p:sp>
    </p:spTree>
  </p:cSld>
  <p:clrMapOvr>
    <a:masterClrMapping/>
  </p:clrMapOvr>
</p:sld>
</file>

<file path=ppt/theme/theme1.xml><?xml version="1.0" encoding="utf-8"?>
<a:theme xmlns:a="http://schemas.openxmlformats.org/drawingml/2006/main" name="Project Storm — Valuing a 50MW Operational Windfarm">
  <a:themeElements>
    <a:clrScheme name="Project Storm — Valuing a 50MW Operational Windfarm">
      <a:dk1>
        <a:srgbClr val="13233A"/>
      </a:dk1>
      <a:lt1>
        <a:srgbClr val="F5F3EC"/>
      </a:lt1>
      <a:dk2>
        <a:srgbClr val="4C5767"/>
      </a:dk2>
      <a:lt2>
        <a:srgbClr val="DEDEDA"/>
      </a:lt2>
      <a:accent1>
        <a:srgbClr val="1F6F78"/>
      </a:accent1>
      <a:accent2>
        <a:srgbClr val="8FCBC4"/>
      </a:accent2>
      <a:accent3>
        <a:srgbClr val="A9501A"/>
      </a:accent3>
      <a:accent4>
        <a:srgbClr val="E7A15A"/>
      </a:accent4>
      <a:accent5>
        <a:srgbClr val="C8611F"/>
      </a:accent5>
      <a:accent6>
        <a:srgbClr val="4A5568"/>
      </a:accent6>
      <a:hlink>
        <a:srgbClr val="0563C1"/>
      </a:hlink>
      <a:folHlink>
        <a:srgbClr val="954F72"/>
      </a:folHlink>
    </a:clrScheme>
    <a:fontScheme name="Project Storm — Valuing a 50MW Operational Windfa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Storm — Valuing a 50MW Operational Windfarm</dc:title>
  <dc:subject/>
  <dc:creator/>
  <cp:lastModifiedBy/>
  <cp:revision>1</cp:revision>
  <dcterms:created xsi:type="dcterms:W3CDTF">2026-10-12T08:10:45Z</dcterms:created>
  <dcterms:modified xsi:type="dcterms:W3CDTF">2026-10-12T08:10:45Z</dcterms:modified>
</cp:coreProperties>
</file>